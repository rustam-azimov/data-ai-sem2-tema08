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10"/>
    <p:sldId id="275" r:id="rId9"/>
    <p:sldId id="276" r:id="rId8"/>
    <p:sldId id="277" r:id="rId7"/>
    <p:sldId id="278" r:id="rId33"/>
    <p:sldId id="279" r:id="rId34"/>
  </p:sldIdLst>
  <p:sldSz cy="5143500" cx="9144000"/>
  <p:notesSz cx="6858000" cy="9144000"/>
  <p:embeddedFontLst>
    <p:embeddedFont>
      <p:font typeface="Montserra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F72ABA-D55F-4E4E-B4D9-346C54DF21A0}">
  <a:tblStyle styleId="{BDF72ABA-D55F-4E4E-B4D9-346C54DF21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2.xml"/><Relationship Id="rId8" Type="http://schemas.openxmlformats.org/officeDocument/2006/relationships/slide" Target="slides/slide21.xml"/><Relationship Id="rId9" Type="http://schemas.openxmlformats.org/officeDocument/2006/relationships/slide" Target="slides/slide20.xml"/><Relationship Id="rId10" Type="http://schemas.openxmlformats.org/officeDocument/2006/relationships/slide" Target="slides/slide1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font" Target="fonts/Montserrat-regular.fntdata"/><Relationship Id="rId30" Type="http://schemas.openxmlformats.org/officeDocument/2006/relationships/font" Target="fonts/Montserrat-bold.fntdata"/><Relationship Id="rId31" Type="http://schemas.openxmlformats.org/officeDocument/2006/relationships/font" Target="fonts/Montserrat-italic.fntdata"/><Relationship Id="rId32" Type="http://schemas.openxmlformats.org/officeDocument/2006/relationships/font" Target="fonts/Montserrat-boldItalic.fntdata"/><Relationship Id="rId33" Type="http://schemas.openxmlformats.org/officeDocument/2006/relationships/slide" Target="slides/slide23.xml"/><Relationship Id="rId34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Тема продолжает работу с таблицами из прошлых тем: теперь данных несколько видов, и они связаны. Все примеры сегодня — на одной учебной базе результатов дисциплин. Она же в тренажёре 08·2, а основная база с той же структурой — в лабораторной.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Семь блоков совпадают с разделами лонгрида темы 08 — студенты могут повторить материал по нему. Цепочку на плашке стоит проговорить: сначала вопрос и таблицы, потом запрос, а в конце обязательная проверка результата.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фрагмент учебной ведомости: 5 из 14 результатов, все по «Базам данных». Ответ на вопрос: получится два «разных» преподавателя — запрос «сколько оценок поставила Осипова» вернёт 5 вместо 6. Интерактив с переименованием есть в разделе 1 лонгрида.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 три аномалии растут из одного: факт о преподавателе хранится не в одном месте, а в каждой строке с оценкой. Пример с Анной Мироновой вернётся в блоке про LEFT JOIN — там она появится с нулём результатов.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ругать электронные таблицы: для разового списка они удобнее. Термины: СУБД — программа (SQLite, PostgreSQL), база — данные внутри неё, таблицы — объекты базы. Синтаксис запросов этого занятия одинаков в обеих СУБД; отличия, которые встретятся в DBeaver, будут на слайдах.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Ответ: нет. Студентов всего 10, а строк 34, потому что каждый записан на 3–4 потока — лекцию и практику по нескольким дисциплинам. COUNT(*) по enrollments считает записи, а не людей. Эта же ловушка вернётся на слайде про размножение строк.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Ответ: ФИО повторяются у разных людей и меняются; ключ должен быть уникальным и стабильным. Составной ключ enrollments: по отдельности student_id и stream_id повторяются, а пара — нет: дважды записать студента на один поток нельзя. В тренажёре 08·1 база показывает, как отказывает при нарушении PK и FK.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Чтобы определить тип связи, найдите внешний ключ: таблица с FK — сторона «многие». Прямого ключа между students и streams нет — их связывает enrollments. Типы связей тренируются на шаге 2 тренажёра 08·1 в четырёх предметных областях.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Пройдите по ключам одну строку results: результат 13 → студент 1 (Алина Воронова) → дисциплина 3 («Базы данных») → поток 302 (практика C1) → преподаватель 5 (Наталья Осипова) → родительский поток 301 (лекция C). В лонгриде это интерактив «Пройдите по ключам». Схема с возможностью вставлять поля в запрос — в тренажёре 08·2.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Задание 1 тренажёра 08·2 начинается ровно с этого запроса: сначала SELECT *, потом нужные столбцы и сортировка.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Строки пишутся в одинарных кавычках, регистр значения важен. Двойные кавычки в PostgreSQL означают имя столбца — частая ошибка при переносе запроса из других источников. На вопрос отвечает слайд 13.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Результат: 95, 92, 91, 89, 88. В SQLite пустые значения при DESC идут в конце, в PostgreSQL — в начале; без фильтра в DBeaver «топ» заняли бы результаты без баллов. Альтернатива — ORDER BY score_value DESC NULLS LAST. Задание 3 тренажёра 08·2.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Две записи без оценки: результат 8 — неявка (absent), результат 14 — неизвестный статус (unknown). Пример со средней 5,0 → 2,5 — задание 18 тренажёра 08·2, где так ошибается запрос «от ИИ» с COALESCE(grade_value, 0).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Средний балл 84,8 посчитан по пяти баллам (424 / 5): AVG пропустил строку без балла. Если подставить ноль, получилось бы 70,67 — среднее «испортилось» бы из-за неизвестного статуса.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Правило GROUP BY: каждый столбец в SELECT либо в группировке, либо внутри агрегата. Ответ на вопрос — на следующем слайде. «Не меньше четырёх» — это &gt;= 4: с &gt; 4 выпала бы линейная алгебра, у неё ровно 4 результата. Задания 6–9 и 14 тренажёра 08·2.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Числа справа — для запроса с прошлого слайда. В лонгриде этот же запрос можно пройти по шагам и увидеть промежуточную таблицу на каждом. Ошибка «misuse of aggregate» в задании 14 тренажёра 08·2 — как раз попытка посчитать агрегат на шаге WHERE.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Псевдонимы r, s, d делают запрос короче. Проверка после JOIN — сравнить число строк до и после. Если строк стало больше, условие ON неверно или связь «один ко многим» размножила строки. Задание 10 тренажёра 08·2; в задании 16 условие ON сравнивает не те поля.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Результат: Осипова 6, Власов 4, Егоров 2, Литвинова 2, Миронова 0. Это тот же приём, что в лабораторной: объекты без связей должны остаться видны. COUNT(*) считает и пустую строку, которую добавил LEFT JOIN, поэтому считать нужно по полю правой таблицы. Задание 12 тренажёра 08·2.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Запрос: enrollments JOIN streams JOIN disciplines, GROUP BY дисциплина. COUNT(*) считает записи на потоки, COUNT(DISTINCT e.student_id) — разных студентов. У матстатистики только лекция, поэтому там числа совпадают. Задание 17 тренажёра 08·2: так ошибается запрос «от ИИ».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Первые две ошибки справа разобраны в заданиях 17–18 тренажёра 08·2. Выдуманный столбец СУБД сразу отвергнет (в PostgreSQL — column … does not exist), а вот размножение строк и подмена NULL проходят без сообщений. ИИ ускоряет черновик, за результат отвечает автор запроса.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Попросите студентов сравнить ответы модели без схемы и со схемой: без схемы ей приходится угадывать названия таблиц и полей. Шаблон запроса для разбора готового скрипта — на шаге 5 тренажёра 08·1.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Контрольная сумма из примера: преподаватели ведут 2 + 2 + 2 + 1 + 1 потоков — вместе 8, ровно столько строк в streams. Если бы сумма разошлась, строки потерялись или задвоились. Задание 19 тренажёра 08·2 — подтвердить верный запрос ИИ такой проверкой.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Порядок: сначала 08·1 — понять чужой код, потом 08·2 — писать свои запросы, затем лабораторная на основной базе. Запросы из 08·2 переносятся в DBeaver без правок, если указать схему: grades.students.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Вернитесь к вопросу со слайда 3: в базе фамилию преподавателя правят один раз в teachers, и все запросы сразу видят новую.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9005E"/>
                </a:solidFill>
                <a:latin typeface="Montserrat"/>
              </a:rPr>
              <a:t>Хранение данных и реляционные базы:</a:t>
            </a:r>
          </a:p>
          <a:p>
            <a:r>
              <a:rPr sz="2200" b="0" i="0">
                <a:solidFill>
                  <a:srgbClr val="09005E"/>
                </a:solidFill>
                <a:latin typeface="Montserrat"/>
              </a:rPr>
              <a:t>таблицы, ключи, SQL-запросы и проверка с ИИ</a:t>
            </a:r>
          </a:p>
          <a:p>
            <a:pPr>
              <a:spcBef>
                <a:spcPts val="1400"/>
              </a:spcBef>
            </a:pPr>
            <a:r>
              <a:rPr sz="1400" b="0" i="0">
                <a:solidFill>
                  <a:srgbClr val="5A6B8C"/>
                </a:solidFill>
                <a:latin typeface="Arial"/>
              </a:rPr>
              <a:t>Данные как основа ИИ · Тема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План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7680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1. </a:t>
            </a:r>
            <a:r>
              <a:rPr sz="1500" b="1" i="0">
                <a:solidFill>
                  <a:srgbClr val="141464"/>
                </a:solidFill>
                <a:latin typeface="Arial"/>
              </a:rPr>
              <a:t>Почему одной таблицы мало.</a:t>
            </a:r>
            <a:r>
              <a:rPr sz="1500" b="0" i="0">
                <a:solidFill>
                  <a:srgbClr val="141464"/>
                </a:solidFill>
                <a:latin typeface="Arial"/>
              </a:rPr>
              <a:t> Повторы и аномалии ведомости.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2. </a:t>
            </a:r>
            <a:r>
              <a:rPr sz="1500" b="1" i="0">
                <a:solidFill>
                  <a:srgbClr val="141464"/>
                </a:solidFill>
                <a:latin typeface="Arial"/>
              </a:rPr>
              <a:t>Таблицы, ключи и связи.</a:t>
            </a:r>
            <a:r>
              <a:rPr sz="1500" b="0" i="0">
                <a:solidFill>
                  <a:srgbClr val="141464"/>
                </a:solidFill>
                <a:latin typeface="Arial"/>
              </a:rPr>
              <a:t> PK, FK, 1 : M и M : M, схема учебной базы.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3. </a:t>
            </a:r>
            <a:r>
              <a:rPr sz="1500" b="1" i="0">
                <a:solidFill>
                  <a:srgbClr val="141464"/>
                </a:solidFill>
                <a:latin typeface="Arial"/>
              </a:rPr>
              <a:t>СУБД и SQL.</a:t>
            </a:r>
            <a:r>
              <a:rPr sz="1500" b="0" i="0">
                <a:solidFill>
                  <a:srgbClr val="141464"/>
                </a:solidFill>
                <a:latin typeface="Arial"/>
              </a:rPr>
              <a:t> Как задать вопрос базе.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4. </a:t>
            </a:r>
            <a:r>
              <a:rPr sz="1500" b="1" i="0">
                <a:solidFill>
                  <a:srgbClr val="141464"/>
                </a:solidFill>
                <a:latin typeface="Arial"/>
              </a:rPr>
              <a:t>Выборка.</a:t>
            </a:r>
            <a:r>
              <a:rPr sz="1500" b="0" i="0">
                <a:solidFill>
                  <a:srgbClr val="141464"/>
                </a:solidFill>
                <a:latin typeface="Arial"/>
              </a:rPr>
              <a:t> SELECT, WHERE, ORDER BY, LIMIT и NULL.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5. </a:t>
            </a:r>
            <a:r>
              <a:rPr sz="1500" b="1" i="0">
                <a:solidFill>
                  <a:srgbClr val="141464"/>
                </a:solidFill>
                <a:latin typeface="Arial"/>
              </a:rPr>
              <a:t>Агрегаты.</a:t>
            </a:r>
            <a:r>
              <a:rPr sz="1500" b="0" i="0">
                <a:solidFill>
                  <a:srgbClr val="141464"/>
                </a:solidFill>
                <a:latin typeface="Arial"/>
              </a:rPr>
              <a:t> COUNT, AVG, GROUP BY, HAVING и порядок выполнения.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6. </a:t>
            </a:r>
            <a:r>
              <a:rPr sz="1500" b="1" i="0">
                <a:solidFill>
                  <a:srgbClr val="141464"/>
                </a:solidFill>
                <a:latin typeface="Arial"/>
              </a:rPr>
              <a:t>Соединения.</a:t>
            </a:r>
            <a:r>
              <a:rPr sz="1500" b="0" i="0">
                <a:solidFill>
                  <a:srgbClr val="141464"/>
                </a:solidFill>
                <a:latin typeface="Arial"/>
              </a:rPr>
              <a:t> JOIN, LEFT JOIN и размножение строк.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7. </a:t>
            </a:r>
            <a:r>
              <a:rPr sz="1500" b="1" i="0">
                <a:solidFill>
                  <a:srgbClr val="141464"/>
                </a:solidFill>
                <a:latin typeface="Arial"/>
              </a:rPr>
              <a:t>SQL вместе с ИИ.</a:t>
            </a:r>
            <a:r>
              <a:rPr sz="1500" b="0" i="0">
                <a:solidFill>
                  <a:srgbClr val="141464"/>
                </a:solidFill>
                <a:latin typeface="Arial"/>
              </a:rPr>
              <a:t> Генерация, объяснение, поиск ошибок, проверка.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0624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4297679"/>
            <a:ext cx="73700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Цепочка занятия: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вопрос → таблицы → ключи → запрос → результат → проверка</a:t>
            </a:r>
            <a:r>
              <a:rPr sz="1400" b="0" i="0">
                <a:solidFill>
                  <a:srgbClr val="141464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Ведомость в одной таблице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Так выглядят результаты, если хранить всё в одном листе: каждая строка повторяет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студента, дисциплину и преподавателя.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Студент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556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556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Дисциплина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7556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Преподаватель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7556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Оценка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2002536"/>
            <a:ext cx="7699248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Кира Фадеева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5740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M3401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5740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05740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Наталья Осипова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5740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2368296"/>
            <a:ext cx="7699248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4231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Лев Гурьев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42316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M3401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42316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Базы данных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42316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Наталья Осипова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42316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" y="2734056"/>
            <a:ext cx="7699248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7889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Виктория Смирнова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78892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M3202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78892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Базы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78892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Наталья Осипова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7889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" y="3099816"/>
            <a:ext cx="7699248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1546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Глеб Новиков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1546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M3202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15468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Базы данных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31546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Наталья Осипова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15468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" y="3465576"/>
            <a:ext cx="7699248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5204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Алина Воронова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52044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M3201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352044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Базы данных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352044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Наталья Осипова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52044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41464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90448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C"/>
                </a:solidFill>
                <a:latin typeface="Arial"/>
              </a:rPr>
              <a:t>… и ещё 9 строк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1056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C0000"/>
                </a:solidFill>
                <a:latin typeface="Montserrat"/>
              </a:rP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4160520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09005E"/>
                </a:solidFill>
                <a:latin typeface="Montserrat"/>
              </a:rPr>
              <a:t>Наталья Осипова — в 6 из 14 строк. Что будет, если исправить</a:t>
            </a:r>
          </a:p>
          <a:p>
            <a:pPr>
              <a:spcAft>
                <a:spcPts val="100"/>
              </a:spcAft>
            </a:pPr>
            <a:r>
              <a:rPr sz="1400" b="0" i="0">
                <a:solidFill>
                  <a:srgbClr val="09005E"/>
                </a:solidFill>
                <a:latin typeface="Montserrat"/>
              </a:rPr>
              <a:t>её фамилию только в одной?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Три аномалии одной таблицы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88720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16736"/>
            <a:ext cx="214884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Обновление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фамилию исправили в одной строке из шести;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один человек выглядит как двое.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188720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316736"/>
            <a:ext cx="214884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Вставка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нового преподавателя некуда записать,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пока у него нет ни одной оценки.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16736"/>
            <a:ext cx="214884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Удаление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удалили единственную оценку —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вместе с ней пропали сведения о потоке и преподавателе.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7772400" cy="68580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611880"/>
            <a:ext cx="73700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Анна Миронова ведёт лекцию по линейной алгебре, но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в ведомости её нет совсем</a:t>
            </a:r>
            <a:r>
              <a:rPr sz="1400" b="0" i="0">
                <a:solidFill>
                  <a:srgbClr val="141464"/>
                </a:solidFill>
                <a:latin typeface="Arial"/>
              </a:rPr>
              <a:t>: оценки по этой дисциплине ставят на практиках.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9005E"/>
                </a:solidFill>
                <a:latin typeface="Montserrat"/>
              </a:rPr>
              <a:t>Зачем база, если есть электронная таблица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Электронная таблица хороша для разового расчёта. Когда данные обновляются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и описывают несколько видов объектов, их удобнее хранить в базе.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Критерий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874519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Электронная таблица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Реляционная база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2121408"/>
            <a:ext cx="7744968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64"/>
                </a:solidFill>
                <a:latin typeface="Arial"/>
              </a:rPr>
              <a:t>Небольшой разовый список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7627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удобна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7627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может быть избыточна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578608"/>
            <a:ext cx="7744968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3347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64"/>
                </a:solidFill>
                <a:latin typeface="Arial"/>
              </a:rPr>
              <a:t>Несколько связанных сущностей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3347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повторы и аномалии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63347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каждая сущность — своя таблица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3035808"/>
            <a:ext cx="7744968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64"/>
                </a:solidFill>
                <a:latin typeface="Arial"/>
              </a:rPr>
              <a:t>Совместная работа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9067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возможны конфликты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09067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доступом управляет СУБД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" y="3493008"/>
            <a:ext cx="7744968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1464"/>
                </a:solidFill>
                <a:latin typeface="Arial"/>
              </a:rPr>
              <a:t>Регулярные вопросы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54787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много ручных шагов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54787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запрос SQL повторяется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160520"/>
            <a:ext cx="7772400" cy="50292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251959"/>
            <a:ext cx="737006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SQLite и PostgreSQL — это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СУБД</a:t>
            </a:r>
            <a:r>
              <a:rPr sz="1400" b="0" i="0">
                <a:solidFill>
                  <a:srgbClr val="141464"/>
                </a:solidFill>
                <a:latin typeface="Arial"/>
              </a:rPr>
              <a:t>. В тренажёрах работает SQLite прямо в браузере, в лабораторной — PostgreSQL через DBeaver.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Что означает одна строка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Таблица — набор однотипных строк. Перед запросом выясните, что описывает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одна строка: от этого зависит смысл COUNT(*).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10512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1892807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A4F8A"/>
                </a:solidFill>
                <a:latin typeface="Arial"/>
              </a:rPr>
              <a:t>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90195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64"/>
                </a:solidFill>
                <a:latin typeface="Arial"/>
              </a:rPr>
              <a:t>одного студента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911095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B8C"/>
                </a:solidFill>
                <a:latin typeface="Arial"/>
              </a:rPr>
              <a:t>10 строк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59152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441448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A4F8A"/>
                </a:solidFill>
                <a:latin typeface="Arial"/>
              </a:rPr>
              <a:t>streams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45059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64"/>
                </a:solidFill>
                <a:latin typeface="Arial"/>
              </a:rPr>
              <a:t>один поток: лекцию или практику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45973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B8C"/>
                </a:solidFill>
                <a:latin typeface="Arial"/>
              </a:rPr>
              <a:t>8 строк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907791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2990087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A4F8A"/>
                </a:solidFill>
                <a:latin typeface="Arial"/>
              </a:rPr>
              <a:t>enrollments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99923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64"/>
                </a:solidFill>
                <a:latin typeface="Arial"/>
              </a:rPr>
              <a:t>одну запись студента на поток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008375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B8C"/>
                </a:solidFill>
                <a:latin typeface="Arial"/>
              </a:rPr>
              <a:t>34 строки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56432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3538727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A4F8A"/>
                </a:solidFill>
                <a:latin typeface="Arial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5478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1464"/>
                </a:solidFill>
                <a:latin typeface="Arial"/>
              </a:rPr>
              <a:t>один результат аттестации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57015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B8C"/>
                </a:solidFill>
                <a:latin typeface="Arial"/>
              </a:rPr>
              <a:t>14 строк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1056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C0000"/>
                </a:solidFill>
                <a:latin typeface="Montserrat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60520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09005E"/>
                </a:solidFill>
                <a:latin typeface="Montserrat"/>
              </a:rPr>
              <a:t>В enrollments 34 строки. Значит ли это, что на потоки записаны 34 студента?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Первичный и внешний ключ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62456"/>
            <a:ext cx="320040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PRIMARY KEY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однозначно определяет строку;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не повторяется;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не бывает NULL.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2344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"/>
            <a:ext cx="320040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FOREIGN KEY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ссылается на ключ другой таблицы;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значение может повторяться;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задаёт связь между строками.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88920"/>
            <a:ext cx="7680960" cy="1115568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898648"/>
            <a:ext cx="735177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53A6B"/>
                </a:solidFill>
                <a:latin typeface="Consolas"/>
              </a:rPr>
              <a:t>students.student_id     →   PK   один студент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53A6B"/>
                </a:solidFill>
                <a:latin typeface="Consolas"/>
              </a:rPr>
              <a:t>results.result_id       →   PK   один результат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53A6B"/>
                </a:solidFill>
                <a:latin typeface="Consolas"/>
              </a:rPr>
              <a:t>results.student_id      →   FK   ссылка на students.student_id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53A6B"/>
                </a:solidFill>
                <a:latin typeface="Consolas"/>
              </a:rPr>
              <a:t>enrollments(student_id, stream_id)  →  составной 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513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C0000"/>
                </a:solidFill>
                <a:latin typeface="Montserrat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06240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09005E"/>
                </a:solidFill>
                <a:latin typeface="Montserrat"/>
              </a:rPr>
              <a:t>Почему ФИО студента плохо подходит на роль первичного ключа?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Связи между таблицами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41464"/>
                </a:solidFill>
                <a:latin typeface="Arial"/>
              </a:rPr>
              <a:t>Кардинальность показывает, сколько строк одной таблицы соответствует строке другой.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148840" cy="493776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1773936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A4F8A"/>
                </a:solidFill>
                <a:latin typeface="Arial"/>
              </a:rPr>
              <a:t>Один к одному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746504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студент и его единственная зачётная книжка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13432"/>
            <a:ext cx="2148840" cy="493776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395728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A4F8A"/>
                </a:solidFill>
                <a:latin typeface="Arial"/>
              </a:rPr>
              <a:t>Один ко многим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6829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один студент — много результатов; одна дисциплина — много потоков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935224"/>
            <a:ext cx="2148840" cy="493776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3017520"/>
            <a:ext cx="19293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A4F8A"/>
                </a:solidFill>
                <a:latin typeface="Arial"/>
              </a:rPr>
              <a:t>Многие ко многим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990088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студенты и потоки: студент ходит на несколько потоков, в потоке много студентов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7772400" cy="64008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931920"/>
            <a:ext cx="737006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Связь «многие ко многим» хранится в промежуточной таблице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enrollments</a:t>
            </a:r>
            <a:r>
              <a:rPr sz="1400" b="0" i="0">
                <a:solidFill>
                  <a:srgbClr val="141464"/>
                </a:solidFill>
                <a:latin typeface="Arial"/>
              </a:rPr>
              <a:t>: каждая строка — пара «студент — поток».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9005E"/>
                </a:solidFill>
                <a:latin typeface="Montserrat"/>
              </a:rPr>
              <a:t>Схема учебной базы: результаты дисциплин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15568"/>
            <a:ext cx="1645920" cy="987552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197864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A4F8A"/>
                </a:solidFill>
                <a:latin typeface="Consolas"/>
              </a:rPr>
              <a:t>students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student_id  PK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student_name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group_code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faculty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115568"/>
            <a:ext cx="1645920" cy="987552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98648" y="1197864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A4F8A"/>
                </a:solidFill>
                <a:latin typeface="Consolas"/>
              </a:rPr>
              <a:t>enrollments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student_id  PK FK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stream_id  PK FK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115568"/>
            <a:ext cx="1645920" cy="987552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0328" y="1197864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A4F8A"/>
                </a:solidFill>
                <a:latin typeface="Consolas"/>
              </a:rPr>
              <a:t>streams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stream_id  PK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discipline_id  FK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teacher_id  FK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parent_stream_id FK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115568"/>
            <a:ext cx="1645920" cy="987552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8" y="1197864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A4F8A"/>
                </a:solidFill>
                <a:latin typeface="Consolas"/>
              </a:rPr>
              <a:t>teachers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teacher_id  PK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teacher_name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56032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2642615"/>
            <a:ext cx="1426464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A4F8A"/>
                </a:solidFill>
                <a:latin typeface="Consolas"/>
              </a:rPr>
              <a:t>results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result_id  PK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student_id  FK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discipline_id  FK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stream_id  FK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grade_status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560320"/>
            <a:ext cx="1645920" cy="987552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2642615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A4F8A"/>
                </a:solidFill>
                <a:latin typeface="Consolas"/>
              </a:rPr>
              <a:t>disciplines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discipline_id  PK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141464"/>
                </a:solidFill>
                <a:latin typeface="Consolas"/>
              </a:rPr>
              <a:t>discipline_name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23160" y="1463040"/>
            <a:ext cx="365760" cy="0"/>
          </a:xfrm>
          <a:prstGeom prst="line">
            <a:avLst/>
          </a:prstGeom>
          <a:ln w="19050">
            <a:solidFill>
              <a:srgbClr val="2A4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434840" y="1463040"/>
            <a:ext cx="365760" cy="0"/>
          </a:xfrm>
          <a:prstGeom prst="line">
            <a:avLst/>
          </a:prstGeom>
          <a:ln w="19050">
            <a:solidFill>
              <a:srgbClr val="2A4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446520" y="1463040"/>
            <a:ext cx="365760" cy="0"/>
          </a:xfrm>
          <a:prstGeom prst="line">
            <a:avLst/>
          </a:prstGeom>
          <a:ln w="19050">
            <a:solidFill>
              <a:srgbClr val="2A4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897880" y="2103120"/>
            <a:ext cx="0" cy="457200"/>
          </a:xfrm>
          <a:prstGeom prst="line">
            <a:avLst/>
          </a:prstGeom>
          <a:ln w="19050">
            <a:solidFill>
              <a:srgbClr val="2A4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00200" y="2103120"/>
            <a:ext cx="1188720" cy="777240"/>
          </a:xfrm>
          <a:prstGeom prst="line">
            <a:avLst/>
          </a:prstGeom>
          <a:ln w="19050">
            <a:solidFill>
              <a:srgbClr val="2A4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434840" y="3017520"/>
            <a:ext cx="365760" cy="0"/>
          </a:xfrm>
          <a:prstGeom prst="line">
            <a:avLst/>
          </a:prstGeom>
          <a:ln w="19050">
            <a:solidFill>
              <a:srgbClr val="2A4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206240" y="2103120"/>
            <a:ext cx="822960" cy="457200"/>
          </a:xfrm>
          <a:prstGeom prst="line">
            <a:avLst/>
          </a:prstGeom>
          <a:ln w="19050">
            <a:solidFill>
              <a:srgbClr val="2A4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376732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6B8C"/>
                </a:solidFill>
                <a:latin typeface="Arial"/>
              </a:rPr>
              <a:t>стрелка ведёт от «одного» к «многим»;  parent_stream_id: практика → своя лекция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114800"/>
            <a:ext cx="7772400" cy="50292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206240"/>
            <a:ext cx="737006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Основная база в DBeaver (схема </a:t>
            </a:r>
            <a:r>
              <a:rPr sz="1300" b="1" i="0">
                <a:solidFill>
                  <a:srgbClr val="141464"/>
                </a:solidFill>
                <a:latin typeface="Arial"/>
              </a:rPr>
              <a:t>grades</a:t>
            </a:r>
            <a:r>
              <a:rPr sz="1300" b="0" i="0">
                <a:solidFill>
                  <a:srgbClr val="141464"/>
                </a:solidFill>
                <a:latin typeface="Arial"/>
              </a:rPr>
              <a:t>) устроена так же, только данных в ней на порядки больше.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Первый SQL-запрос: SELECT и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41464"/>
                </a:solidFill>
                <a:latin typeface="Arial"/>
              </a:rPr>
              <a:t>SQL — декларативный язык: вы описываете нужный результат, а СУБД решает, как его получить.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7772400" cy="685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55648"/>
            <a:ext cx="744321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53A6B"/>
                </a:solidFill>
                <a:latin typeface="Consolas"/>
              </a:rPr>
              <a:t>SELECT student_name, group_code, faculty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153A6B"/>
                </a:solidFill>
                <a:latin typeface="Consolas"/>
              </a:rPr>
              <a:t>FROM   students;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9005E"/>
                </a:solidFill>
                <a:latin typeface="Consolas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44144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— какие столбцы вернуть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9005E"/>
                </a:solidFill>
                <a:latin typeface="Consolas"/>
              </a:rPr>
              <a:t>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85292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— из какой таблицы брать строки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9005E"/>
                </a:solidFill>
                <a:latin typeface="Consolas"/>
              </a:rPr>
              <a:t>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26440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— все столбцы: удобно для знакомства, но не для отчёта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251959"/>
            <a:ext cx="73700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Результат запроса —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тоже таблица</a:t>
            </a:r>
            <a:r>
              <a:rPr sz="1400" b="0" i="0">
                <a:solidFill>
                  <a:srgbClr val="141464"/>
                </a:solidFill>
                <a:latin typeface="Arial"/>
              </a:rPr>
              <a:t>: её можно отсортировать, посчитать и проверить.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Фильтрация: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7772400" cy="90068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52728"/>
            <a:ext cx="7443216" cy="68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3A6B"/>
                </a:solidFill>
                <a:latin typeface="Consolas"/>
              </a:rPr>
              <a:t>SELECT student_name, group_code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153A6B"/>
                </a:solidFill>
                <a:latin typeface="Consolas"/>
              </a:rPr>
              <a:t>FROM   students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153A6B"/>
                </a:solidFill>
                <a:latin typeface="Consolas"/>
              </a:rPr>
              <a:t>WHERE  faculty = 'ФЕН';            -- 4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9005E"/>
                </a:solidFill>
                <a:latin typeface="Consolas"/>
              </a:rPr>
              <a:t>=  &lt;  &gt;  &lt;=  &gt;=  &lt;&gt;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сравнение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9005E"/>
                </a:solidFill>
                <a:latin typeface="Consolas"/>
              </a:rPr>
              <a:t>AND  OR  NOT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логические условия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82696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9005E"/>
                </a:solidFill>
                <a:latin typeface="Consolas"/>
              </a:rPr>
              <a:t>IN (…)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одно из нескольких значений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14884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9005E"/>
                </a:solidFill>
                <a:latin typeface="Consolas"/>
              </a:rPr>
              <a:t>BETWEEN … AND …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диапазон включительно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71576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9005E"/>
                </a:solidFill>
                <a:latin typeface="Consolas"/>
              </a:rPr>
              <a:t>LIKE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поиск по шаблону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82696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9005E"/>
                </a:solidFill>
                <a:latin typeface="Consolas"/>
              </a:rPr>
              <a:t>IS NULL / IS NOT NULL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проверка пропуска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513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C0000"/>
                </a:solidFill>
                <a:latin typeface="Montserrat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09005E"/>
                </a:solidFill>
                <a:latin typeface="Montserrat"/>
              </a:rPr>
              <a:t>Почему пропуски ищут через IS NULL, а не через = NULL?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9005E"/>
                </a:solidFill>
                <a:latin typeface="Montserrat"/>
              </a:rPr>
              <a:t>Сортировка и ограничение: ORDER BY,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7772400" cy="1330451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52728"/>
            <a:ext cx="7443216" cy="1110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3A6B"/>
                </a:solidFill>
                <a:latin typeface="Consolas"/>
              </a:rPr>
              <a:t>SELECT   result_id, student_id, score_value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153A6B"/>
                </a:solidFill>
                <a:latin typeface="Consolas"/>
              </a:rPr>
              <a:t>FROM     results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153A6B"/>
                </a:solidFill>
                <a:latin typeface="Consolas"/>
              </a:rPr>
              <a:t>WHERE    score_value IS NOT NULL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153A6B"/>
                </a:solidFill>
                <a:latin typeface="Consolas"/>
              </a:rPr>
              <a:t>ORDER BY score_value DESC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153A6B"/>
                </a:solidFill>
                <a:latin typeface="Consolas"/>
              </a:rPr>
              <a:t>LIMIT    5;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spcAft>
                <a:spcPts val="5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ORDER BY</a:t>
            </a:r>
            <a:r>
              <a:rPr sz="1400" b="0" i="0">
                <a:solidFill>
                  <a:srgbClr val="141464"/>
                </a:solidFill>
                <a:latin typeface="Arial"/>
              </a:rPr>
              <a:t> задаёт порядок строк: ASC — по возрастанию (по умолчанию), DESC — по убыванию.</a:t>
            </a:r>
          </a:p>
          <a:p>
            <a:pPr marL="237744" indent="-237744">
              <a:spcAft>
                <a:spcPts val="5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LIMIT</a:t>
            </a:r>
            <a:r>
              <a:rPr sz="1400" b="0" i="0">
                <a:solidFill>
                  <a:srgbClr val="141464"/>
                </a:solidFill>
                <a:latin typeface="Arial"/>
              </a:rPr>
              <a:t> срабатывает после сортировки и оставляет первые строки.</a:t>
            </a:r>
          </a:p>
          <a:p>
            <a:pPr marL="237744" indent="-237744">
              <a:spcAft>
                <a:spcPts val="5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У строк нет естественного порядка</a:t>
            </a:r>
            <a:r>
              <a:rPr sz="1400" b="0" i="0">
                <a:solidFill>
                  <a:srgbClr val="141464"/>
                </a:solidFill>
                <a:latin typeface="Arial"/>
              </a:rPr>
              <a:t> — его задаёт только ORDER BY.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7772400" cy="54864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06240"/>
            <a:ext cx="7370064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В PostgreSQL при DESC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пустые значения встают первыми</a:t>
            </a:r>
            <a:r>
              <a:rPr sz="1400" b="0" i="0">
                <a:solidFill>
                  <a:srgbClr val="141464"/>
                </a:solidFill>
                <a:latin typeface="Arial"/>
              </a:rPr>
              <a:t> — поэтому в запросе есть WHERE score_value IS NOT NULL.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NULL — не ноль и не пустая строка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749039" cy="90068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27048"/>
            <a:ext cx="3419856" cy="68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SELECT result_id, grade_status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FROM   results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WHERE  grade_value = NULL;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C"/>
                </a:solidFill>
                <a:latin typeface="Arial"/>
              </a:rPr>
              <a:t>Ошибка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417320"/>
            <a:ext cx="3749039" cy="90068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10912" y="1527048"/>
            <a:ext cx="3419856" cy="68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SELECT result_id, grade_status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FROM   results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WHERE  grade_value IS NULL;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C"/>
                </a:solidFill>
                <a:latin typeface="Arial"/>
              </a:rPr>
              <a:t>Верно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03A2E"/>
                </a:solidFill>
                <a:latin typeface="Arial"/>
              </a:rPr>
              <a:t>→ 0 строк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317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C7E4F"/>
                </a:solidFill>
                <a:latin typeface="Arial"/>
              </a:rPr>
              <a:t>→ 2 строки: absent и unknown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spcAft>
                <a:spcPts val="4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400" b="0" i="0">
                <a:solidFill>
                  <a:srgbClr val="141464"/>
                </a:solidFill>
                <a:latin typeface="Arial"/>
              </a:rPr>
              <a:t>NULL означает «значение неизвестно»;</a:t>
            </a:r>
          </a:p>
          <a:p>
            <a:pPr marL="237744" indent="-237744">
              <a:spcAft>
                <a:spcPts val="4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400" b="0" i="0">
                <a:solidFill>
                  <a:srgbClr val="141464"/>
                </a:solidFill>
                <a:latin typeface="Arial"/>
              </a:rPr>
              <a:t>любое сравнение с NULL даёт «неизвестно», а не «истину»;</a:t>
            </a:r>
          </a:p>
          <a:p>
            <a:pPr marL="237744" indent="-237744">
              <a:spcAft>
                <a:spcPts val="4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400" b="0" i="0">
                <a:solidFill>
                  <a:srgbClr val="141464"/>
                </a:solidFill>
                <a:latin typeface="Arial"/>
              </a:rPr>
              <a:t>агрегаты AVG, SUM, MIN, MAX пропускают NULL.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7772400" cy="54864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206240"/>
            <a:ext cx="7370064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Неявка — не оценка «0». Если заменить NULL нулём, средняя по матстатистике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упадёт с 5,0 до 2,5</a:t>
            </a:r>
            <a:r>
              <a:rPr sz="1400" b="0" i="0">
                <a:solidFill>
                  <a:srgbClr val="141464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Агрегатные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41464"/>
                </a:solidFill>
                <a:latin typeface="Arial"/>
              </a:rPr>
              <a:t>Агрегат сворачивает несколько строк в один показатель.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1636776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COUNT(*)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3677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количество строк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093976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COUNT(поле)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9397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количество непустых значений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468880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2551176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SUM(поле)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55117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сумма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554480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1636776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AVG(поле)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63677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среднее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011680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2093976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MIN(поле)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09397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минимум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468880"/>
            <a:ext cx="1600200" cy="36576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2551176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MAX(поле)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5117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464"/>
                </a:solidFill>
                <a:latin typeface="Arial"/>
              </a:rPr>
              <a:t>максимум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017520"/>
            <a:ext cx="7772400" cy="90068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127248"/>
            <a:ext cx="7443216" cy="68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SELECT COUNT(*), COUNT(score_value), AVG(score_value)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FROM   results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WHERE  discipline_id = 3;        -- «Базы данных»: 6 · 5 · 84,8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14800"/>
            <a:ext cx="7772400" cy="54864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206240"/>
            <a:ext cx="7370064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/>
            </a:r>
            <a:r>
              <a:rPr sz="1400" b="1" i="0">
                <a:solidFill>
                  <a:srgbClr val="141464"/>
                </a:solidFill>
                <a:latin typeface="Arial"/>
              </a:rPr>
              <a:t>COUNT(*) считает строки, COUNT(поле) — непустые значения.</a:t>
            </a:r>
            <a:r>
              <a:rPr sz="1400" b="0" i="0">
                <a:solidFill>
                  <a:srgbClr val="141464"/>
                </a:solidFill>
                <a:latin typeface="Arial"/>
              </a:rPr>
              <a:t> По «Базам данных» 6 результатов, а баллов только 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GROUP BY и HAVING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7772400" cy="1545336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07007"/>
            <a:ext cx="744321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SELECT   discipline_id, COUNT(*) AS graded_count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FROM     results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WHERE    grade_status = 'graded'   -- фильтр строк до группировки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GROUP BY discipline_id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HAVING   COUNT(*) &gt;= 4             -- фильтр групп после расчёта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ORDER BY graded_count DESC;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9748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25496"/>
            <a:ext cx="329184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WHERE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фильтрует строки до группировки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69748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2825496"/>
            <a:ext cx="329184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HAVING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фильтрует группы после агрегатов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227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C0000"/>
                </a:solidFill>
                <a:latin typeface="Montserrat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77639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09005E"/>
                </a:solidFill>
                <a:latin typeface="Montserrat"/>
              </a:rPr>
              <a:t>Можно ли записать COUNT(*) &gt;= 4 в WHERE?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Логический порядок выполнения запроса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1556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A4F8A"/>
                </a:solidFill>
                <a:latin typeface="Montserrat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1069848"/>
            <a:ext cx="1783080" cy="329184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5607" y="1152144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FROM /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133856"/>
            <a:ext cx="52120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results: 14 строк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A4F8A"/>
                </a:solidFill>
                <a:latin typeface="Montserrat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472184"/>
            <a:ext cx="1783080" cy="329184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7" y="155448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536192"/>
            <a:ext cx="52120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grade_status = 'graded': 12 строк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39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A4F8A"/>
                </a:solidFill>
                <a:latin typeface="Montserrat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1874519"/>
            <a:ext cx="1783080" cy="329184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7" y="1956815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GROUP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38527"/>
            <a:ext cx="52120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по discipline_id: 4 группы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2257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A4F8A"/>
                </a:solidFill>
                <a:latin typeface="Montserrat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2276856"/>
            <a:ext cx="1783080" cy="329184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5607" y="2359152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HAVING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340864"/>
            <a:ext cx="52120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COUNT(*) &gt;= 4: 2 группы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724911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A4F8A"/>
                </a:solidFill>
                <a:latin typeface="Montserrat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2679191"/>
            <a:ext cx="1783080" cy="329184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5607" y="2761487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743199"/>
            <a:ext cx="52120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discipline_id и graded_count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1272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A4F8A"/>
                </a:solidFill>
                <a:latin typeface="Montserrat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081528"/>
            <a:ext cx="1783080" cy="329184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5607" y="3163824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ORDER 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145536"/>
            <a:ext cx="52120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сначала дисциплина 3 (5), потом 1 (4)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2958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A4F8A"/>
                </a:solidFill>
                <a:latin typeface="Montserrat"/>
              </a:rPr>
              <a:t>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3483864"/>
            <a:ext cx="1783080" cy="329184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35607" y="356616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A4F8A"/>
                </a:solidFill>
                <a:latin typeface="Arial"/>
              </a:rPr>
              <a:t>LIMIT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547872"/>
            <a:ext cx="52120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в этом запросе не задан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023360"/>
            <a:ext cx="7772400" cy="59436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114800"/>
            <a:ext cx="7370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Запрос пишется в одном порядке, а выполняется в другом.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Агрегат нельзя фильтровать в WHERE</a:t>
            </a:r>
            <a:r>
              <a:rPr sz="1400" b="0" i="0">
                <a:solidFill>
                  <a:srgbClr val="141464"/>
                </a:solidFill>
                <a:latin typeface="Arial"/>
              </a:rPr>
              <a:t> — на этом шаге групп ещё нет.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Объединение таблиц: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JOIN нужен, когда поля ответа лежат в разных таблицах. ON задаёт, по каким ключам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сопоставлять строки.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772400" cy="1545336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92807"/>
            <a:ext cx="744321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SELECT s.student_name, d.discipline_name, r.grade_value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FROM   results AS r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JOIN   students    AS s ON r.student_id    = s.student_id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JOIN   disciplines AS d ON r.discipline_id = d.discipline_id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WHERE  r.grade_status = 'graded'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ORDER BY d.discipline_name, s.student_name;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7772400" cy="54864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06240"/>
            <a:ext cx="7370064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12 результатов graded →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12 строк</a:t>
            </a:r>
            <a:r>
              <a:rPr sz="1400" b="0" i="0">
                <a:solidFill>
                  <a:srgbClr val="141464"/>
                </a:solidFill>
                <a:latin typeface="Arial"/>
              </a:rPr>
              <a:t>: каждый результат нашёл ровно одного студента и одну дисциплину.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9005E"/>
                </a:solidFill>
                <a:latin typeface="Montserrat"/>
              </a:rPr>
              <a:t>INNER JOIN и LEFT JOIN: нагрузка преподавателей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14300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71016"/>
            <a:ext cx="32918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INNER JOIN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остаются только совпавшие строки;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строка без пары не попадёт в результат.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14300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271016"/>
            <a:ext cx="32918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LEFT JOIN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остаются все строки левой таблицы;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справа без пары появляются NULL.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7772400" cy="1330451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78608"/>
            <a:ext cx="7443216" cy="1110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53A6B"/>
                </a:solidFill>
                <a:latin typeface="Consolas"/>
              </a:rPr>
              <a:t>SELECT t.teacher_name, COUNT(r.result_id) AS results_count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53A6B"/>
                </a:solidFill>
                <a:latin typeface="Consolas"/>
              </a:rPr>
              <a:t>FROM   teachers AS t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53A6B"/>
                </a:solidFill>
                <a:latin typeface="Consolas"/>
              </a:rPr>
              <a:t>LEFT JOIN streams AS s ON s.teacher_id = t.teacher_id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53A6B"/>
                </a:solidFill>
                <a:latin typeface="Consolas"/>
              </a:rPr>
              <a:t>LEFT JOIN results AS r ON r.stream_id  = s.stream_id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53A6B"/>
                </a:solidFill>
                <a:latin typeface="Consolas"/>
              </a:rPr>
              <a:t>GROUP BY t.teacher_id, t.teacher_name;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69080"/>
            <a:ext cx="7772400" cy="59436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60520"/>
            <a:ext cx="7370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INNER JOIN вернёт </a:t>
            </a:r>
            <a:r>
              <a:rPr sz="1350" b="1" i="0">
                <a:solidFill>
                  <a:srgbClr val="141464"/>
                </a:solidFill>
                <a:latin typeface="Arial"/>
              </a:rPr>
              <a:t>4 преподавателей</a:t>
            </a:r>
            <a:r>
              <a:rPr sz="1350" b="0" i="0">
                <a:solidFill>
                  <a:srgbClr val="141464"/>
                </a:solidFill>
                <a:latin typeface="Arial"/>
              </a:rPr>
              <a:t>, LEFT JOIN — 5: Анна Миронова с нулём. С COUNT(*) вместо COUNT(r.result_id) у неё оказалась бы 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Ловушка: соединение размножает строки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Вопрос: сколько студентов записано на каждую дисциплину? Каждый студент записан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41464"/>
                </a:solidFill>
                <a:latin typeface="Arial"/>
              </a:rPr>
              <a:t>и на лекцию, и на практику.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0136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Дисциплина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80136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COUNT(*)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80136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4F8A"/>
                </a:solidFill>
                <a:latin typeface="Arial"/>
              </a:rPr>
              <a:t>COUNT(DISTINCT e.student_id)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2048255"/>
            <a:ext cx="7744968" cy="3749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41464"/>
                </a:solidFill>
                <a:latin typeface="Arial"/>
              </a:rPr>
              <a:t>Линейная алгебра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0312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468879"/>
            <a:ext cx="7744968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23744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41464"/>
                </a:solidFill>
                <a:latin typeface="Arial"/>
              </a:rPr>
              <a:t>Теория вероятностей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523744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523744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2889503"/>
            <a:ext cx="7744968" cy="3749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4436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41464"/>
                </a:solidFill>
                <a:latin typeface="Arial"/>
              </a:rPr>
              <a:t>Базы 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944368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4436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" y="3310127"/>
            <a:ext cx="7744968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64991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41464"/>
                </a:solidFill>
                <a:latin typeface="Arial"/>
              </a:rPr>
              <a:t>Математическая статистика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364991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364991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69080"/>
            <a:ext cx="7772400" cy="59436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160520"/>
            <a:ext cx="7370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В базе всего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10 студентов</a:t>
            </a:r>
            <a:r>
              <a:rPr sz="1400" b="0" i="0">
                <a:solidFill>
                  <a:srgbClr val="141464"/>
                </a:solidFill>
                <a:latin typeface="Arial"/>
              </a:rPr>
              <a:t> — на дисциплину их не может быть 12. Проверка здравым смыслом ловит ошибку раньше формул.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SQL вместе с ИИ: что можно поручить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1430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71016"/>
            <a:ext cx="3291840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Поручить ИИ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черновик запроса по тексту задания;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объяснение чужого запроса по частям;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причину ошибки по сообщению СУБД;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проверочные запросы.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1430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271016"/>
            <a:ext cx="3291840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2A4F8A"/>
                </a:solidFill>
                <a:latin typeface="Arial"/>
              </a:rPr>
              <a:t>Где ИИ ошибается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путает единицу наблюдения и размножает строки;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заменяет NULL нулём «для удобства»;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придумывает столбцы, которых нет в схеме;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41464"/>
                </a:solidFill>
                <a:latin typeface="Arial"/>
              </a:rPr>
              <a:t>• пишет на другом диалекте 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7772400" cy="50292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023359"/>
            <a:ext cx="737006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Запрос, который выполнился без ошибок,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ещё не правильный ответ</a:t>
            </a:r>
            <a:r>
              <a:rPr sz="1400" b="0" i="0">
                <a:solidFill>
                  <a:srgbClr val="141464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Как поставить задачу 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7772400" cy="1545336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81328"/>
            <a:ext cx="744321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СУБД: PostgreSQL, схема grades.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Схема таблиц: &lt;вставить CREATE TABLE&gt;.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Значения grade_status: 'graded', 'absent', 'unknown'.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Задание: сколько студентов записано на каждую дисциплину.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Нужны столбцы: discipline_name, students_count.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53A6B"/>
                </a:solidFill>
                <a:latin typeface="Consolas"/>
              </a:rPr>
              <a:t>Используй только эти таблицы и поля. Объясни каждую часть запроса.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C"/>
                </a:solidFill>
                <a:latin typeface="Arial"/>
              </a:rPr>
              <a:t>Пример запроса к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spcAft>
                <a:spcPts val="300"/>
              </a:spcAft>
            </a:pPr>
            <a:r>
              <a:rPr sz="135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350" b="0" i="0">
                <a:solidFill>
                  <a:srgbClr val="141464"/>
                </a:solidFill>
                <a:latin typeface="Arial"/>
              </a:rPr>
              <a:t>диалект — чтобы не получить синтаксис другой СУБД;</a:t>
            </a:r>
          </a:p>
          <a:p>
            <a:pPr marL="237744" indent="-237744">
              <a:spcAft>
                <a:spcPts val="300"/>
              </a:spcAft>
            </a:pPr>
            <a:r>
              <a:rPr sz="135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350" b="0" i="0">
                <a:solidFill>
                  <a:srgbClr val="141464"/>
                </a:solidFill>
                <a:latin typeface="Arial"/>
              </a:rPr>
              <a:t>схема и значения статусов — чтобы модель не придумывала поля;</a:t>
            </a:r>
          </a:p>
          <a:p>
            <a:pPr marL="237744" indent="-237744">
              <a:spcAft>
                <a:spcPts val="300"/>
              </a:spcAft>
            </a:pPr>
            <a:r>
              <a:rPr sz="135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350" b="0" i="0">
                <a:solidFill>
                  <a:srgbClr val="141464"/>
                </a:solidFill>
                <a:latin typeface="Arial"/>
              </a:rPr>
              <a:t>ожидаемые столбцы — чтобы результат можно было сверить.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7772400" cy="54864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206240"/>
            <a:ext cx="7370064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41464"/>
                </a:solidFill>
                <a:latin typeface="Arial"/>
              </a:rPr>
              <a:t>В тренажёре 08·2 кнопка </a:t>
            </a:r>
            <a:r>
              <a:rPr sz="1350" b="1" i="0">
                <a:solidFill>
                  <a:srgbClr val="141464"/>
                </a:solidFill>
                <a:latin typeface="Arial"/>
              </a:rPr>
              <a:t>«Задание для ИИ»</a:t>
            </a:r>
            <a:r>
              <a:rPr sz="1350" b="0" i="0">
                <a:solidFill>
                  <a:srgbClr val="141464"/>
                </a:solidFill>
                <a:latin typeface="Arial"/>
              </a:rPr>
              <a:t> копирует схему и условие — останется вставить их в чат.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Проверка результата и 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4F8A"/>
                </a:solidFill>
                <a:latin typeface="Arial"/>
              </a:rPr>
              <a:t>Что проверить после запроса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9319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spcAft>
                <a:spcPts val="500"/>
              </a:spcAft>
            </a:pPr>
            <a:r>
              <a:rPr sz="13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300" b="0" i="0">
                <a:solidFill>
                  <a:srgbClr val="141464"/>
                </a:solidFill>
                <a:latin typeface="Arial"/>
              </a:rPr>
              <a:t>число строк до и после JOIN;</a:t>
            </a:r>
          </a:p>
          <a:p>
            <a:pPr marL="237744" indent="-237744">
              <a:spcAft>
                <a:spcPts val="500"/>
              </a:spcAft>
            </a:pPr>
            <a:r>
              <a:rPr sz="13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300" b="0" i="0">
                <a:solidFill>
                  <a:srgbClr val="141464"/>
                </a:solidFill>
                <a:latin typeface="Arial"/>
              </a:rPr>
              <a:t>контрольную сумму: 2 + 2 + 2 + 1 + 1 = 8 потоков;</a:t>
            </a:r>
          </a:p>
          <a:p>
            <a:pPr marL="237744" indent="-237744">
              <a:spcAft>
                <a:spcPts val="500"/>
              </a:spcAft>
            </a:pPr>
            <a:r>
              <a:rPr sz="13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300" b="0" i="0">
                <a:solidFill>
                  <a:srgbClr val="141464"/>
                </a:solidFill>
                <a:latin typeface="Arial"/>
              </a:rPr>
              <a:t>несколько строк вручную;</a:t>
            </a:r>
          </a:p>
          <a:p>
            <a:pPr marL="237744" indent="-237744">
              <a:spcAft>
                <a:spcPts val="500"/>
              </a:spcAft>
            </a:pPr>
            <a:r>
              <a:rPr sz="13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300" b="0" i="0">
                <a:solidFill>
                  <a:srgbClr val="141464"/>
                </a:solidFill>
                <a:latin typeface="Arial"/>
              </a:rPr>
              <a:t>объекты без связей через LEFT JOIN;</a:t>
            </a:r>
          </a:p>
          <a:p>
            <a:pPr marL="237744" indent="-237744">
              <a:spcAft>
                <a:spcPts val="500"/>
              </a:spcAft>
            </a:pPr>
            <a:r>
              <a:rPr sz="13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300" b="0" i="0">
                <a:solidFill>
                  <a:srgbClr val="141464"/>
                </a:solidFill>
                <a:latin typeface="Arial"/>
              </a:rPr>
              <a:t>здравый смысл: студентов не больше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A4F8A"/>
                </a:solidFill>
                <a:latin typeface="Arial"/>
              </a:rPr>
              <a:t>Частые ошибки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9005E"/>
                </a:solidFill>
                <a:latin typeface="Arial"/>
              </a:rPr>
              <a:t>слишком много строк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→ JOIN размножил строки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385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9005E"/>
                </a:solidFill>
                <a:latin typeface="Arial"/>
              </a:rPr>
              <a:t>пропали объекты без связей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→ нужен LEFT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41401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9005E"/>
                </a:solidFill>
                <a:latin typeface="Arial"/>
              </a:rPr>
              <a:t>агрегат в WHERE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→ его место в HAVING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889504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9005E"/>
                </a:solidFill>
                <a:latin typeface="Arial"/>
              </a:rPr>
              <a:t>= NULL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→ IS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6499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9005E"/>
                </a:solidFill>
                <a:latin typeface="Arial"/>
              </a:rPr>
              <a:t>поле есть в двух таблицах</a:t>
            </a:r>
          </a:p>
          <a:p>
            <a:r>
              <a:rPr sz="1200" b="0" i="0">
                <a:solidFill>
                  <a:srgbClr val="5A6B8C"/>
                </a:solidFill>
                <a:latin typeface="Arial"/>
              </a:rPr>
              <a:t>→ добавить псевдоним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69080"/>
            <a:ext cx="7772400" cy="54864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160520"/>
            <a:ext cx="7370064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Синтаксически верный запрос может давать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неверный по смыслу результат</a:t>
            </a:r>
            <a:r>
              <a:rPr sz="1400" b="0" i="0">
                <a:solidFill>
                  <a:srgbClr val="141464"/>
                </a:solidFill>
                <a:latin typeface="Arial"/>
              </a:rPr>
              <a:t> — свой или предложенный ИИ.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Практика и лабораторная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2514600" cy="233172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71016"/>
            <a:ext cx="2148840" cy="2075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1" i="0">
                <a:solidFill>
                  <a:srgbClr val="2A4F8A"/>
                </a:solidFill>
                <a:latin typeface="Arial"/>
              </a:rPr>
              <a:t>Тренажёр 08·1 · без кода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41464"/>
                </a:solidFill>
                <a:latin typeface="Arial"/>
              </a:rPr>
              <a:t>• 4 предметные области;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41464"/>
                </a:solidFill>
                <a:latin typeface="Arial"/>
              </a:rPr>
              <a:t>• ключи, связи, данные и 5 запросов;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41464"/>
                </a:solidFill>
                <a:latin typeface="Arial"/>
              </a:rPr>
              <a:t>• «что если…» и объяснение 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143000"/>
            <a:ext cx="2514600" cy="233172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271016"/>
            <a:ext cx="2148840" cy="2075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1" i="0">
                <a:solidFill>
                  <a:srgbClr val="2A4F8A"/>
                </a:solidFill>
                <a:latin typeface="Arial"/>
              </a:rPr>
              <a:t>Тренажёр 08·2 · код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41464"/>
                </a:solidFill>
                <a:latin typeface="Arial"/>
              </a:rPr>
              <a:t>• 19 заданий на учебной базе;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41464"/>
                </a:solidFill>
                <a:latin typeface="Arial"/>
              </a:rPr>
              <a:t>• поиск ошибок и проверка запросов ИИ;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41464"/>
                </a:solidFill>
                <a:latin typeface="Arial"/>
              </a:rPr>
              <a:t>• ответ проверяется по результату.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2514600" cy="2331720"/>
          </a:xfrm>
          <a:prstGeom prst="roundRect">
            <a:avLst>
              <a:gd name="adj" fmla="val 8000"/>
            </a:avLst>
          </a:prstGeom>
          <a:solidFill>
            <a:srgbClr val="EDF4FD"/>
          </a:solidFill>
          <a:ln w="15875">
            <a:solidFill>
              <a:srgbClr val="2A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71016"/>
            <a:ext cx="2148840" cy="2075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1" i="0">
                <a:solidFill>
                  <a:srgbClr val="2A4F8A"/>
                </a:solidFill>
                <a:latin typeface="Arial"/>
              </a:rPr>
              <a:t>Лабораторная · DBeaver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41464"/>
                </a:solidFill>
                <a:latin typeface="Arial"/>
              </a:rPr>
              <a:t>• основная база edu, схема grades;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41464"/>
                </a:solidFill>
                <a:latin typeface="Arial"/>
              </a:rPr>
              <a:t>• индивидуальный вариант;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141464"/>
                </a:solidFill>
                <a:latin typeface="Arial"/>
              </a:rPr>
              <a:t>• PDF-отчёт и декларация 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7772400" cy="50292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931920"/>
            <a:ext cx="737006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Материалы темы: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rustam-azimov.github.io/data-ai-sem2-tema08</a:t>
            </a:r>
            <a:r>
              <a:rPr sz="1400" b="0" i="0">
                <a:solidFill>
                  <a:srgbClr val="141464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8521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9005E"/>
                </a:solidFill>
                <a:latin typeface="Montserrat"/>
              </a:rPr>
              <a:t>Что мы разобрали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0224" y="47183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9005E"/>
                </a:solidFill>
                <a:latin typeface="Montserrat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7680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500" b="0" i="0">
                <a:solidFill>
                  <a:srgbClr val="141464"/>
                </a:solidFill>
                <a:latin typeface="Arial"/>
              </a:rPr>
              <a:t>почему одной таблицы мало и какие аномалии она создаёт;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500" b="0" i="0">
                <a:solidFill>
                  <a:srgbClr val="141464"/>
                </a:solidFill>
                <a:latin typeface="Arial"/>
              </a:rPr>
              <a:t>первичные и внешние ключи, связи и промежуточные таблицы;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500" b="0" i="0">
                <a:solidFill>
                  <a:srgbClr val="141464"/>
                </a:solidFill>
                <a:latin typeface="Arial"/>
              </a:rPr>
              <a:t>выборку: SELECT, WHERE, ORDER BY, LIMIT и работу с NULL;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500" b="0" i="0">
                <a:solidFill>
                  <a:srgbClr val="141464"/>
                </a:solidFill>
                <a:latin typeface="Arial"/>
              </a:rPr>
              <a:t>агрегаты, GROUP BY, разницу между WHERE и HAVING;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500" b="0" i="0">
                <a:solidFill>
                  <a:srgbClr val="141464"/>
                </a:solidFill>
                <a:latin typeface="Arial"/>
              </a:rPr>
              <a:t>INNER JOIN и LEFT JOIN, размножение строк;</a:t>
            </a:r>
          </a:p>
          <a:p>
            <a:pPr marL="237744" indent="-237744">
              <a:spcAft>
                <a:spcPts val="600"/>
              </a:spcAft>
            </a:pPr>
            <a:r>
              <a:rPr sz="1500" b="1" i="0">
                <a:solidFill>
                  <a:srgbClr val="2A4F8A"/>
                </a:solidFill>
                <a:latin typeface="Arial"/>
              </a:rPr>
              <a:t>•   </a:t>
            </a:r>
            <a:r>
              <a:rPr sz="1500" b="0" i="0">
                <a:solidFill>
                  <a:srgbClr val="141464"/>
                </a:solidFill>
                <a:latin typeface="Arial"/>
              </a:rPr>
              <a:t>как ставить задачу ИИ и проверять его запросы.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69080"/>
            <a:ext cx="7772400" cy="502920"/>
          </a:xfrm>
          <a:prstGeom prst="roundRect">
            <a:avLst>
              <a:gd name="adj" fmla="val 12000"/>
            </a:avLst>
          </a:prstGeom>
          <a:solidFill>
            <a:srgbClr val="ED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4160520"/>
            <a:ext cx="737006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41464"/>
                </a:solidFill>
                <a:latin typeface="Arial"/>
              </a:rPr>
              <a:t>SQL начинается с понимания схемы и заканчивается </a:t>
            </a:r>
            <a:r>
              <a:rPr sz="1400" b="1" i="0">
                <a:solidFill>
                  <a:srgbClr val="141464"/>
                </a:solidFill>
                <a:latin typeface="Arial"/>
              </a:rPr>
              <a:t>проверкой результата</a:t>
            </a:r>
            <a:r>
              <a:rPr sz="1400" b="0" i="0">
                <a:solidFill>
                  <a:srgbClr val="141464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